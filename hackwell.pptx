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75488" y="438912"/>
            <a:ext cx="329184" cy="0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75488" y="438912"/>
            <a:ext cx="0" cy="329184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84280" y="6382512"/>
            <a:ext cx="338328" cy="0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722608" y="6053328"/>
            <a:ext cx="0" cy="329184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6565392"/>
            <a:ext cx="5029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A09D9E"/>
                </a:solidFill>
                <a:latin typeface="Aptos"/>
              </a:rPr>
              <a:t>HACKWELL 2.0  •  SARANATHAN COLLEGE OF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A09D9E"/>
                </a:solidFill>
                <a:latin typeface="Aptos"/>
              </a:rPr>
              <a:t>01 / 07</a:t>
            </a:r>
          </a:p>
        </p:txBody>
      </p:sp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267968" cy="713232"/>
          </a:xfrm>
          <a:prstGeom prst="rect">
            <a:avLst/>
          </a:prstGeom>
        </p:spPr>
      </p:pic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56032"/>
            <a:ext cx="1381760" cy="777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960120"/>
            <a:ext cx="107899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EE182B"/>
                </a:solidFill>
                <a:latin typeface="Aptos Display"/>
              </a:rPr>
              <a:t>HACKWELL 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73352"/>
            <a:ext cx="103327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5F5F2"/>
                </a:solidFill>
                <a:latin typeface="Aptos"/>
              </a:rPr>
              <a:t>AGENTIC AI FRAUD RING DETECTION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846320" y="2331720"/>
            <a:ext cx="1143000" cy="548640"/>
          </a:xfrm>
          <a:prstGeom prst="line">
            <a:avLst/>
          </a:prstGeom>
          <a:ln w="15240">
            <a:solidFill>
              <a:srgbClr val="302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89320" y="2331720"/>
            <a:ext cx="1097280" cy="594360"/>
          </a:xfrm>
          <a:prstGeom prst="line">
            <a:avLst/>
          </a:prstGeom>
          <a:ln w="15240">
            <a:solidFill>
              <a:srgbClr val="302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89320" y="2331720"/>
            <a:ext cx="0" cy="1325880"/>
          </a:xfrm>
          <a:prstGeom prst="line">
            <a:avLst/>
          </a:prstGeom>
          <a:ln w="15240">
            <a:solidFill>
              <a:srgbClr val="302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46320" y="2880360"/>
            <a:ext cx="1143000" cy="777240"/>
          </a:xfrm>
          <a:prstGeom prst="line">
            <a:avLst/>
          </a:prstGeom>
          <a:ln w="15240">
            <a:solidFill>
              <a:srgbClr val="302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989320" y="2926080"/>
            <a:ext cx="1097280" cy="731520"/>
          </a:xfrm>
          <a:prstGeom prst="line">
            <a:avLst/>
          </a:prstGeom>
          <a:ln w="15240">
            <a:solidFill>
              <a:srgbClr val="302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114800" y="2880360"/>
            <a:ext cx="731520" cy="777240"/>
          </a:xfrm>
          <a:prstGeom prst="line">
            <a:avLst/>
          </a:prstGeom>
          <a:ln w="15240">
            <a:solidFill>
              <a:srgbClr val="302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86600" y="2926080"/>
            <a:ext cx="731520" cy="731520"/>
          </a:xfrm>
          <a:prstGeom prst="line">
            <a:avLst/>
          </a:prstGeom>
          <a:ln w="15240">
            <a:solidFill>
              <a:srgbClr val="302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681728" y="2715768"/>
            <a:ext cx="329184" cy="329184"/>
          </a:xfrm>
          <a:prstGeom prst="ellipse">
            <a:avLst/>
          </a:prstGeom>
          <a:solidFill>
            <a:srgbClr val="EE182B"/>
          </a:solidFill>
          <a:ln w="10160">
            <a:solidFill>
              <a:srgbClr val="F5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3154679"/>
            <a:ext cx="8229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A09D9E"/>
                </a:solidFill>
                <a:latin typeface="Aptos"/>
              </a:rPr>
              <a:t>A</a:t>
            </a:r>
          </a:p>
        </p:txBody>
      </p:sp>
      <p:sp>
        <p:nvSpPr>
          <p:cNvPr id="21" name="Oval 20"/>
          <p:cNvSpPr/>
          <p:nvPr/>
        </p:nvSpPr>
        <p:spPr>
          <a:xfrm>
            <a:off x="5824728" y="2167127"/>
            <a:ext cx="329184" cy="329184"/>
          </a:xfrm>
          <a:prstGeom prst="ellipse">
            <a:avLst/>
          </a:prstGeom>
          <a:solidFill>
            <a:srgbClr val="EE182B"/>
          </a:solidFill>
          <a:ln w="10160">
            <a:solidFill>
              <a:srgbClr val="F5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2606039"/>
            <a:ext cx="8229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A09D9E"/>
                </a:solidFill>
                <a:latin typeface="Aptos"/>
              </a:rPr>
              <a:t>B</a:t>
            </a:r>
          </a:p>
        </p:txBody>
      </p:sp>
      <p:sp>
        <p:nvSpPr>
          <p:cNvPr id="23" name="Oval 22"/>
          <p:cNvSpPr/>
          <p:nvPr/>
        </p:nvSpPr>
        <p:spPr>
          <a:xfrm>
            <a:off x="6922008" y="2761488"/>
            <a:ext cx="329184" cy="329184"/>
          </a:xfrm>
          <a:prstGeom prst="ellipse">
            <a:avLst/>
          </a:prstGeom>
          <a:solidFill>
            <a:srgbClr val="EE182B"/>
          </a:solidFill>
          <a:ln w="10160">
            <a:solidFill>
              <a:srgbClr val="F5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200400"/>
            <a:ext cx="8229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A09D9E"/>
                </a:solidFill>
                <a:latin typeface="Aptos"/>
              </a:rPr>
              <a:t>C</a:t>
            </a:r>
          </a:p>
        </p:txBody>
      </p:sp>
      <p:sp>
        <p:nvSpPr>
          <p:cNvPr id="25" name="Oval 24"/>
          <p:cNvSpPr/>
          <p:nvPr/>
        </p:nvSpPr>
        <p:spPr>
          <a:xfrm>
            <a:off x="5824728" y="3493008"/>
            <a:ext cx="329184" cy="329184"/>
          </a:xfrm>
          <a:prstGeom prst="ellipse">
            <a:avLst/>
          </a:prstGeom>
          <a:solidFill>
            <a:srgbClr val="EE182B"/>
          </a:solidFill>
          <a:ln w="10160">
            <a:solidFill>
              <a:srgbClr val="F5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3931920"/>
            <a:ext cx="8229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A09D9E"/>
                </a:solidFill>
                <a:latin typeface="Aptos"/>
              </a:rPr>
              <a:t>D</a:t>
            </a:r>
          </a:p>
        </p:txBody>
      </p:sp>
      <p:sp>
        <p:nvSpPr>
          <p:cNvPr id="27" name="Oval 26"/>
          <p:cNvSpPr/>
          <p:nvPr/>
        </p:nvSpPr>
        <p:spPr>
          <a:xfrm>
            <a:off x="3950208" y="3493008"/>
            <a:ext cx="329184" cy="329184"/>
          </a:xfrm>
          <a:prstGeom prst="ellipse">
            <a:avLst/>
          </a:prstGeom>
          <a:solidFill>
            <a:srgbClr val="EE182B"/>
          </a:solidFill>
          <a:ln w="10160">
            <a:solidFill>
              <a:srgbClr val="F5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3931920"/>
            <a:ext cx="8229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A09D9E"/>
                </a:solidFill>
                <a:latin typeface="Aptos"/>
              </a:rPr>
              <a:t>E</a:t>
            </a:r>
          </a:p>
        </p:txBody>
      </p:sp>
      <p:sp>
        <p:nvSpPr>
          <p:cNvPr id="29" name="Oval 28"/>
          <p:cNvSpPr/>
          <p:nvPr/>
        </p:nvSpPr>
        <p:spPr>
          <a:xfrm>
            <a:off x="7653528" y="3493008"/>
            <a:ext cx="329184" cy="329184"/>
          </a:xfrm>
          <a:prstGeom prst="ellipse">
            <a:avLst/>
          </a:prstGeom>
          <a:solidFill>
            <a:srgbClr val="EE182B"/>
          </a:solidFill>
          <a:ln w="10160">
            <a:solidFill>
              <a:srgbClr val="F5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3931920"/>
            <a:ext cx="8229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A09D9E"/>
                </a:solidFill>
                <a:latin typeface="Aptos"/>
              </a:rPr>
              <a:t>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65960" y="4343400"/>
            <a:ext cx="8275320" cy="1143000"/>
          </a:xfrm>
          <a:prstGeom prst="roundRect">
            <a:avLst>
              <a:gd name="adj" fmla="val 8000"/>
            </a:avLst>
          </a:prstGeom>
          <a:solidFill>
            <a:srgbClr val="110E10"/>
          </a:solidFill>
          <a:ln w="12700">
            <a:solidFill>
              <a:srgbClr val="302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40280" y="4553712"/>
            <a:ext cx="34747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E182B"/>
                </a:solidFill>
                <a:latin typeface="Aptos"/>
              </a:rPr>
              <a:t>TEAM  •  GRAPH GRAUDIANS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553712"/>
            <a:ext cx="34747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E182B"/>
                </a:solidFill>
                <a:latin typeface="Aptos"/>
              </a:rPr>
              <a:t>DOMAIN  •  AUTONOMOUS AI AGENTS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37760"/>
            <a:ext cx="47548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5F5F2"/>
                </a:solidFill>
                <a:latin typeface="Aptos"/>
              </a:rPr>
              <a:t>PROJECT  •  FRAUD RING DETECTION WEBSITE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5239512"/>
            <a:ext cx="72237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A09D9E"/>
                </a:solidFill>
                <a:latin typeface="Aptos"/>
              </a:rPr>
              <a:t>VIJAYASARATHI.B  •  SANJAY.B  •  VISHAL.B.S  •  SANTHANA THANUSH.M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75488" y="438912"/>
            <a:ext cx="329184" cy="0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75488" y="438912"/>
            <a:ext cx="0" cy="329184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84280" y="6382512"/>
            <a:ext cx="338328" cy="0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722608" y="6053328"/>
            <a:ext cx="0" cy="329184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6565392"/>
            <a:ext cx="5029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A09D9E"/>
                </a:solidFill>
                <a:latin typeface="Aptos"/>
              </a:rPr>
              <a:t>HACKWELL 2.0  •  SARANATHAN COLLEGE OF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A09D9E"/>
                </a:solidFill>
                <a:latin typeface="Aptos"/>
              </a:rPr>
              <a:t>02 / 07</a:t>
            </a:r>
          </a:p>
        </p:txBody>
      </p:sp>
      <p:pic>
        <p:nvPicPr>
          <p:cNvPr id="8" name="Picture 7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182880"/>
            <a:ext cx="1007872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75488"/>
            <a:ext cx="2286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E182B"/>
                </a:solidFill>
                <a:latin typeface="Aptos"/>
              </a:rPr>
              <a:t>SECTION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932688"/>
            <a:ext cx="1051560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5F5F2"/>
                </a:solidFill>
                <a:latin typeface="Aptos Display"/>
              </a:rPr>
              <a:t>Fraud rings hide in connections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572768"/>
            <a:ext cx="98755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A09D9E"/>
                </a:solidFill>
                <a:latin typeface="Aptos"/>
              </a:rPr>
              <a:t>Single-event checks can miss coordinated fraud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48840"/>
            <a:ext cx="6446520" cy="3611880"/>
          </a:xfrm>
          <a:prstGeom prst="roundRect">
            <a:avLst>
              <a:gd name="adj" fmla="val 8000"/>
            </a:avLst>
          </a:prstGeom>
          <a:solidFill>
            <a:srgbClr val="110E10"/>
          </a:solidFill>
          <a:ln w="12700">
            <a:solidFill>
              <a:srgbClr val="302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441448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E182B"/>
                </a:solidFill>
                <a:latin typeface="Aptos"/>
              </a:rPr>
              <a:t>THE PROBLEM</a:t>
            </a:r>
          </a:p>
        </p:txBody>
      </p:sp>
      <p:sp>
        <p:nvSpPr>
          <p:cNvPr id="14" name="Diamond 13"/>
          <p:cNvSpPr/>
          <p:nvPr/>
        </p:nvSpPr>
        <p:spPr>
          <a:xfrm>
            <a:off x="1051560" y="2926080"/>
            <a:ext cx="109728" cy="109728"/>
          </a:xfrm>
          <a:prstGeom prst="diamond">
            <a:avLst/>
          </a:prstGeom>
          <a:solidFill>
            <a:srgbClr val="EE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834640"/>
            <a:ext cx="548640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5F2"/>
                </a:solidFill>
                <a:latin typeface="Aptos"/>
              </a:rPr>
              <a:t>Linked accounts and transactions can conceal fraud rings</a:t>
            </a:r>
          </a:p>
        </p:txBody>
      </p:sp>
      <p:sp>
        <p:nvSpPr>
          <p:cNvPr id="16" name="Diamond 15"/>
          <p:cNvSpPr/>
          <p:nvPr/>
        </p:nvSpPr>
        <p:spPr>
          <a:xfrm>
            <a:off x="1051560" y="3767327"/>
            <a:ext cx="109728" cy="109728"/>
          </a:xfrm>
          <a:prstGeom prst="diamond">
            <a:avLst/>
          </a:prstGeom>
          <a:solidFill>
            <a:srgbClr val="EE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675887"/>
            <a:ext cx="548640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5F2"/>
                </a:solidFill>
                <a:latin typeface="Aptos"/>
              </a:rPr>
              <a:t>Financial platforms and fraud investigation teams need a connected view</a:t>
            </a:r>
          </a:p>
        </p:txBody>
      </p:sp>
      <p:sp>
        <p:nvSpPr>
          <p:cNvPr id="18" name="Diamond 17"/>
          <p:cNvSpPr/>
          <p:nvPr/>
        </p:nvSpPr>
        <p:spPr>
          <a:xfrm>
            <a:off x="1051560" y="4608576"/>
            <a:ext cx="109728" cy="109728"/>
          </a:xfrm>
          <a:prstGeom prst="diamond">
            <a:avLst/>
          </a:prstGeom>
          <a:solidFill>
            <a:srgbClr val="EE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517136"/>
            <a:ext cx="548640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5F2"/>
                </a:solidFill>
                <a:latin typeface="Aptos"/>
              </a:rPr>
              <a:t>Manual review is slow; rules can miss relationship patterns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2148840"/>
            <a:ext cx="3886200" cy="3611880"/>
          </a:xfrm>
          <a:prstGeom prst="roundRect">
            <a:avLst>
              <a:gd name="adj" fmla="val 8000"/>
            </a:avLst>
          </a:prstGeom>
          <a:solidFill>
            <a:srgbClr val="1B1114"/>
          </a:solidFill>
          <a:ln w="1270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82127" y="2487168"/>
            <a:ext cx="32461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5F2"/>
                </a:solidFill>
                <a:latin typeface="Aptos"/>
              </a:rPr>
              <a:t>WHY RING DETECTION MATTERS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82127" y="3063240"/>
            <a:ext cx="3063240" cy="384048"/>
          </a:xfrm>
          <a:prstGeom prst="roundRect">
            <a:avLst>
              <a:gd name="adj" fmla="val 8000"/>
            </a:avLst>
          </a:prstGeom>
          <a:solidFill>
            <a:srgbClr val="110E10"/>
          </a:solidFill>
          <a:ln w="1270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3136392"/>
            <a:ext cx="291693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F5F2"/>
                </a:solidFill>
                <a:latin typeface="Aptos"/>
              </a:rPr>
              <a:t>Linked accounts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82127" y="3630168"/>
            <a:ext cx="3063240" cy="384048"/>
          </a:xfrm>
          <a:prstGeom prst="roundRect">
            <a:avLst>
              <a:gd name="adj" fmla="val 8000"/>
            </a:avLst>
          </a:prstGeom>
          <a:solidFill>
            <a:srgbClr val="110E10"/>
          </a:solidFill>
          <a:ln w="1270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3703320"/>
            <a:ext cx="291693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F5F2"/>
                </a:solidFill>
                <a:latin typeface="Aptos"/>
              </a:rPr>
              <a:t>Shared devices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82127" y="4197096"/>
            <a:ext cx="3063240" cy="384048"/>
          </a:xfrm>
          <a:prstGeom prst="roundRect">
            <a:avLst>
              <a:gd name="adj" fmla="val 8000"/>
            </a:avLst>
          </a:prstGeom>
          <a:solidFill>
            <a:srgbClr val="110E10"/>
          </a:solidFill>
          <a:ln w="1270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4270248"/>
            <a:ext cx="291693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F5F2"/>
                </a:solidFill>
                <a:latin typeface="Aptos"/>
              </a:rPr>
              <a:t>Repeated patterns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82127" y="4764024"/>
            <a:ext cx="3063240" cy="384048"/>
          </a:xfrm>
          <a:prstGeom prst="roundRect">
            <a:avLst>
              <a:gd name="adj" fmla="val 8000"/>
            </a:avLst>
          </a:prstGeom>
          <a:solidFill>
            <a:srgbClr val="110E10"/>
          </a:solidFill>
          <a:ln w="1270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4837176"/>
            <a:ext cx="291693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F5F2"/>
                </a:solidFill>
                <a:latin typeface="Aptos"/>
              </a:rPr>
              <a:t>Connected analysis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8229600" y="4983480"/>
            <a:ext cx="914400" cy="457200"/>
          </a:xfrm>
          <a:prstGeom prst="line">
            <a:avLst/>
          </a:prstGeom>
          <a:ln w="1397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144000" y="4983480"/>
            <a:ext cx="914400" cy="457200"/>
          </a:xfrm>
          <a:prstGeom prst="line">
            <a:avLst/>
          </a:prstGeom>
          <a:ln w="1397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144000" y="4572000"/>
            <a:ext cx="0" cy="868680"/>
          </a:xfrm>
          <a:prstGeom prst="line">
            <a:avLst/>
          </a:prstGeom>
          <a:ln w="1397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025128" y="5321808"/>
            <a:ext cx="237744" cy="237744"/>
          </a:xfrm>
          <a:prstGeom prst="ellipse">
            <a:avLst/>
          </a:prstGeom>
          <a:solidFill>
            <a:srgbClr val="EE182B"/>
          </a:solidFill>
          <a:ln w="10160">
            <a:solidFill>
              <a:srgbClr val="F5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32520" y="5715000"/>
            <a:ext cx="8229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A09D9E"/>
                </a:solidFill>
                <a:latin typeface="Aptos"/>
              </a:rPr>
              <a:t>RING</a:t>
            </a:r>
          </a:p>
        </p:txBody>
      </p:sp>
      <p:sp>
        <p:nvSpPr>
          <p:cNvPr id="35" name="Oval 34"/>
          <p:cNvSpPr/>
          <p:nvPr/>
        </p:nvSpPr>
        <p:spPr>
          <a:xfrm>
            <a:off x="8110727" y="4864608"/>
            <a:ext cx="237744" cy="237744"/>
          </a:xfrm>
          <a:prstGeom prst="ellipse">
            <a:avLst/>
          </a:prstGeom>
          <a:solidFill>
            <a:srgbClr val="EE182B"/>
          </a:solidFill>
          <a:ln w="10160">
            <a:solidFill>
              <a:srgbClr val="F5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20" y="5257800"/>
            <a:ext cx="8229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A09D9E"/>
                </a:solidFill>
                <a:latin typeface="Aptos"/>
              </a:rPr>
              <a:t>A</a:t>
            </a:r>
          </a:p>
        </p:txBody>
      </p:sp>
      <p:sp>
        <p:nvSpPr>
          <p:cNvPr id="37" name="Oval 36"/>
          <p:cNvSpPr/>
          <p:nvPr/>
        </p:nvSpPr>
        <p:spPr>
          <a:xfrm>
            <a:off x="9939528" y="4864608"/>
            <a:ext cx="237744" cy="237744"/>
          </a:xfrm>
          <a:prstGeom prst="ellipse">
            <a:avLst/>
          </a:prstGeom>
          <a:solidFill>
            <a:srgbClr val="EE182B"/>
          </a:solidFill>
          <a:ln w="10160">
            <a:solidFill>
              <a:srgbClr val="F5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6920" y="5257800"/>
            <a:ext cx="8229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A09D9E"/>
                </a:solidFill>
                <a:latin typeface="Aptos"/>
              </a:rPr>
              <a:t>B</a:t>
            </a:r>
          </a:p>
        </p:txBody>
      </p:sp>
      <p:sp>
        <p:nvSpPr>
          <p:cNvPr id="39" name="Oval 38"/>
          <p:cNvSpPr/>
          <p:nvPr/>
        </p:nvSpPr>
        <p:spPr>
          <a:xfrm>
            <a:off x="9025128" y="4453128"/>
            <a:ext cx="237744" cy="237744"/>
          </a:xfrm>
          <a:prstGeom prst="ellipse">
            <a:avLst/>
          </a:prstGeom>
          <a:solidFill>
            <a:srgbClr val="EE182B"/>
          </a:solidFill>
          <a:ln w="10160">
            <a:solidFill>
              <a:srgbClr val="F5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4846320"/>
            <a:ext cx="8229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A09D9E"/>
                </a:solidFill>
                <a:latin typeface="Aptos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75488" y="438912"/>
            <a:ext cx="329184" cy="0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75488" y="438912"/>
            <a:ext cx="0" cy="329184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84280" y="6382512"/>
            <a:ext cx="338328" cy="0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722608" y="6053328"/>
            <a:ext cx="0" cy="329184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6565392"/>
            <a:ext cx="5029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A09D9E"/>
                </a:solidFill>
                <a:latin typeface="Aptos"/>
              </a:rPr>
              <a:t>HACKWELL 2.0  •  SARANATHAN COLLEGE OF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A09D9E"/>
                </a:solidFill>
                <a:latin typeface="Aptos"/>
              </a:rPr>
              <a:t>03 / 07</a:t>
            </a:r>
          </a:p>
        </p:txBody>
      </p:sp>
      <p:pic>
        <p:nvPicPr>
          <p:cNvPr id="8" name="Picture 7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182880"/>
            <a:ext cx="1007872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75488"/>
            <a:ext cx="2286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E182B"/>
                </a:solidFill>
                <a:latin typeface="Aptos"/>
              </a:rPr>
              <a:t>SECTION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932688"/>
            <a:ext cx="1051560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5F5F2"/>
                </a:solidFill>
                <a:latin typeface="Aptos Display"/>
              </a:rPr>
              <a:t>Agentic AI fraud investigation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572768"/>
            <a:ext cx="98755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A09D9E"/>
                </a:solidFill>
                <a:latin typeface="Aptos"/>
              </a:rPr>
              <a:t>An AI website that finds suspicious connected entities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03120"/>
            <a:ext cx="4754880" cy="3703320"/>
          </a:xfrm>
          <a:prstGeom prst="roundRect">
            <a:avLst>
              <a:gd name="adj" fmla="val 8000"/>
            </a:avLst>
          </a:prstGeom>
          <a:solidFill>
            <a:srgbClr val="110E10"/>
          </a:solidFill>
          <a:ln w="12700">
            <a:solidFill>
              <a:srgbClr val="302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395728"/>
            <a:ext cx="25603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E182B"/>
                </a:solidFill>
                <a:latin typeface="Aptos"/>
              </a:rPr>
              <a:t>WHAT THE AGENTS DO</a:t>
            </a:r>
          </a:p>
        </p:txBody>
      </p:sp>
      <p:sp>
        <p:nvSpPr>
          <p:cNvPr id="14" name="Diamond 13"/>
          <p:cNvSpPr/>
          <p:nvPr/>
        </p:nvSpPr>
        <p:spPr>
          <a:xfrm>
            <a:off x="1051560" y="2880360"/>
            <a:ext cx="109728" cy="109728"/>
          </a:xfrm>
          <a:prstGeom prst="diamond">
            <a:avLst/>
          </a:prstGeom>
          <a:solidFill>
            <a:srgbClr val="EE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788920"/>
            <a:ext cx="384048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F5F5F2"/>
                </a:solidFill>
                <a:latin typeface="Aptos"/>
              </a:rPr>
              <a:t>Collect signals, link entities and flag high-risk rings</a:t>
            </a:r>
          </a:p>
        </p:txBody>
      </p:sp>
      <p:sp>
        <p:nvSpPr>
          <p:cNvPr id="16" name="Diamond 15"/>
          <p:cNvSpPr/>
          <p:nvPr/>
        </p:nvSpPr>
        <p:spPr>
          <a:xfrm>
            <a:off x="1051560" y="3657600"/>
            <a:ext cx="109728" cy="109728"/>
          </a:xfrm>
          <a:prstGeom prst="diamond">
            <a:avLst/>
          </a:prstGeom>
          <a:solidFill>
            <a:srgbClr val="EE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566160"/>
            <a:ext cx="384048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F5F5F2"/>
                </a:solidFill>
                <a:latin typeface="Aptos"/>
              </a:rPr>
              <a:t>Reveal relationship patterns missed by isolated checks</a:t>
            </a:r>
          </a:p>
        </p:txBody>
      </p:sp>
      <p:sp>
        <p:nvSpPr>
          <p:cNvPr id="18" name="Diamond 17"/>
          <p:cNvSpPr/>
          <p:nvPr/>
        </p:nvSpPr>
        <p:spPr>
          <a:xfrm>
            <a:off x="1051560" y="4434840"/>
            <a:ext cx="109728" cy="109728"/>
          </a:xfrm>
          <a:prstGeom prst="diamond">
            <a:avLst/>
          </a:prstGeom>
          <a:solidFill>
            <a:srgbClr val="EE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343400"/>
            <a:ext cx="384048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F5F5F2"/>
                </a:solidFill>
                <a:latin typeface="Aptos"/>
              </a:rPr>
              <a:t>Investigate, score and summarize suspicious networks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2103120"/>
            <a:ext cx="5623560" cy="3703320"/>
          </a:xfrm>
          <a:prstGeom prst="roundRect">
            <a:avLst>
              <a:gd name="adj" fmla="val 8000"/>
            </a:avLst>
          </a:prstGeom>
          <a:solidFill>
            <a:srgbClr val="1B1114"/>
          </a:solidFill>
          <a:ln w="12700">
            <a:solidFill>
              <a:srgbClr val="302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2395728"/>
            <a:ext cx="2011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E182B"/>
                </a:solidFill>
                <a:latin typeface="Aptos"/>
              </a:rPr>
              <a:t>CONNECTED VIEW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7452360" y="3246120"/>
            <a:ext cx="1188720" cy="640080"/>
          </a:xfrm>
          <a:prstGeom prst="line">
            <a:avLst/>
          </a:prstGeom>
          <a:ln w="19050">
            <a:solidFill>
              <a:srgbClr val="302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641080" y="3246120"/>
            <a:ext cx="1280160" cy="457200"/>
          </a:xfrm>
          <a:prstGeom prst="line">
            <a:avLst/>
          </a:prstGeom>
          <a:ln w="19050">
            <a:solidFill>
              <a:srgbClr val="302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3246120"/>
            <a:ext cx="0" cy="1371600"/>
          </a:xfrm>
          <a:prstGeom prst="line">
            <a:avLst/>
          </a:prstGeom>
          <a:ln w="19050">
            <a:solidFill>
              <a:srgbClr val="302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52360" y="3886200"/>
            <a:ext cx="1188720" cy="731520"/>
          </a:xfrm>
          <a:prstGeom prst="line">
            <a:avLst/>
          </a:prstGeom>
          <a:ln w="19050">
            <a:solidFill>
              <a:srgbClr val="302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641080" y="3703320"/>
            <a:ext cx="1280160" cy="914400"/>
          </a:xfrm>
          <a:prstGeom prst="line">
            <a:avLst/>
          </a:prstGeom>
          <a:ln w="19050">
            <a:solidFill>
              <a:srgbClr val="302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921240" y="3703320"/>
            <a:ext cx="548640" cy="960120"/>
          </a:xfrm>
          <a:prstGeom prst="line">
            <a:avLst/>
          </a:prstGeom>
          <a:ln w="19050">
            <a:solidFill>
              <a:srgbClr val="302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6812280" y="3886200"/>
            <a:ext cx="640080" cy="822960"/>
          </a:xfrm>
          <a:prstGeom prst="line">
            <a:avLst/>
          </a:prstGeom>
          <a:ln w="19050">
            <a:solidFill>
              <a:srgbClr val="302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287768" y="3721608"/>
            <a:ext cx="329184" cy="329184"/>
          </a:xfrm>
          <a:prstGeom prst="ellipse">
            <a:avLst/>
          </a:prstGeom>
          <a:solidFill>
            <a:srgbClr val="9B0D1B"/>
          </a:solidFill>
          <a:ln w="10160">
            <a:solidFill>
              <a:srgbClr val="F5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4160520"/>
            <a:ext cx="8229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A09D9E"/>
                </a:solidFill>
                <a:latin typeface="Aptos"/>
              </a:rPr>
              <a:t>ACC</a:t>
            </a:r>
          </a:p>
        </p:txBody>
      </p:sp>
      <p:sp>
        <p:nvSpPr>
          <p:cNvPr id="31" name="Oval 30"/>
          <p:cNvSpPr/>
          <p:nvPr/>
        </p:nvSpPr>
        <p:spPr>
          <a:xfrm>
            <a:off x="8476488" y="3081527"/>
            <a:ext cx="329184" cy="329184"/>
          </a:xfrm>
          <a:prstGeom prst="ellipse">
            <a:avLst/>
          </a:prstGeom>
          <a:solidFill>
            <a:srgbClr val="9B0D1B"/>
          </a:solidFill>
          <a:ln w="10160">
            <a:solidFill>
              <a:srgbClr val="F5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3520439"/>
            <a:ext cx="8229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A09D9E"/>
                </a:solidFill>
                <a:latin typeface="Aptos"/>
              </a:rPr>
              <a:t>DEV</a:t>
            </a:r>
          </a:p>
        </p:txBody>
      </p:sp>
      <p:sp>
        <p:nvSpPr>
          <p:cNvPr id="33" name="Oval 32"/>
          <p:cNvSpPr/>
          <p:nvPr/>
        </p:nvSpPr>
        <p:spPr>
          <a:xfrm>
            <a:off x="9756648" y="3538727"/>
            <a:ext cx="329184" cy="329184"/>
          </a:xfrm>
          <a:prstGeom prst="ellipse">
            <a:avLst/>
          </a:prstGeom>
          <a:solidFill>
            <a:srgbClr val="EE182B"/>
          </a:solidFill>
          <a:ln w="10160">
            <a:solidFill>
              <a:srgbClr val="F5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0" y="3977639"/>
            <a:ext cx="8229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A09D9E"/>
                </a:solidFill>
                <a:latin typeface="Aptos"/>
              </a:rPr>
              <a:t>TXN</a:t>
            </a:r>
          </a:p>
        </p:txBody>
      </p:sp>
      <p:sp>
        <p:nvSpPr>
          <p:cNvPr id="35" name="Oval 34"/>
          <p:cNvSpPr/>
          <p:nvPr/>
        </p:nvSpPr>
        <p:spPr>
          <a:xfrm>
            <a:off x="8476488" y="4453128"/>
            <a:ext cx="329184" cy="329184"/>
          </a:xfrm>
          <a:prstGeom prst="ellipse">
            <a:avLst/>
          </a:prstGeom>
          <a:solidFill>
            <a:srgbClr val="EE182B"/>
          </a:solidFill>
          <a:ln w="10160">
            <a:solidFill>
              <a:srgbClr val="F5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4892040"/>
            <a:ext cx="8229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A09D9E"/>
                </a:solidFill>
                <a:latin typeface="Aptos"/>
              </a:rPr>
              <a:t>ID</a:t>
            </a:r>
          </a:p>
        </p:txBody>
      </p:sp>
      <p:sp>
        <p:nvSpPr>
          <p:cNvPr id="37" name="Oval 36"/>
          <p:cNvSpPr/>
          <p:nvPr/>
        </p:nvSpPr>
        <p:spPr>
          <a:xfrm>
            <a:off x="10305288" y="4498848"/>
            <a:ext cx="329184" cy="329184"/>
          </a:xfrm>
          <a:prstGeom prst="ellipse">
            <a:avLst/>
          </a:prstGeom>
          <a:solidFill>
            <a:srgbClr val="9B0D1B"/>
          </a:solidFill>
          <a:ln w="10160">
            <a:solidFill>
              <a:srgbClr val="F5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0" y="4937759"/>
            <a:ext cx="8229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A09D9E"/>
                </a:solidFill>
                <a:latin typeface="Aptos"/>
              </a:rPr>
              <a:t>ACC</a:t>
            </a:r>
          </a:p>
        </p:txBody>
      </p:sp>
      <p:sp>
        <p:nvSpPr>
          <p:cNvPr id="39" name="Oval 38"/>
          <p:cNvSpPr/>
          <p:nvPr/>
        </p:nvSpPr>
        <p:spPr>
          <a:xfrm>
            <a:off x="6647688" y="4544568"/>
            <a:ext cx="329184" cy="329184"/>
          </a:xfrm>
          <a:prstGeom prst="ellipse">
            <a:avLst/>
          </a:prstGeom>
          <a:solidFill>
            <a:srgbClr val="9B0D1B"/>
          </a:solidFill>
          <a:ln w="10160">
            <a:solidFill>
              <a:srgbClr val="F5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983480"/>
            <a:ext cx="8229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A09D9E"/>
                </a:solidFill>
                <a:latin typeface="Aptos"/>
              </a:rPr>
              <a:t>DEV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5321808"/>
            <a:ext cx="1508760" cy="384048"/>
          </a:xfrm>
          <a:prstGeom prst="roundRect">
            <a:avLst>
              <a:gd name="adj" fmla="val 8000"/>
            </a:avLst>
          </a:prstGeom>
          <a:solidFill>
            <a:srgbClr val="1B1114"/>
          </a:solidFill>
          <a:ln w="1270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45352" y="5394960"/>
            <a:ext cx="13624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F5F2"/>
                </a:solidFill>
                <a:latin typeface="Aptos"/>
              </a:rPr>
              <a:t>ENTITY LINKING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18120" y="5321808"/>
            <a:ext cx="1783080" cy="384048"/>
          </a:xfrm>
          <a:prstGeom prst="roundRect">
            <a:avLst>
              <a:gd name="adj" fmla="val 8000"/>
            </a:avLst>
          </a:prstGeom>
          <a:solidFill>
            <a:srgbClr val="1B1114"/>
          </a:solidFill>
          <a:ln w="1270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91272" y="5394960"/>
            <a:ext cx="163677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F5F2"/>
                </a:solidFill>
                <a:latin typeface="Aptos"/>
              </a:rPr>
              <a:t>FASTER PRIORITIZATION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38360" y="5321808"/>
            <a:ext cx="1417320" cy="384048"/>
          </a:xfrm>
          <a:prstGeom prst="roundRect">
            <a:avLst>
              <a:gd name="adj" fmla="val 8000"/>
            </a:avLst>
          </a:prstGeom>
          <a:solidFill>
            <a:srgbClr val="1B1114"/>
          </a:solidFill>
          <a:ln w="1270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11512" y="5394960"/>
            <a:ext cx="127101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F5F2"/>
                </a:solidFill>
                <a:latin typeface="Aptos"/>
              </a:rPr>
              <a:t>FRAUD ANALYSTS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75488" y="438912"/>
            <a:ext cx="329184" cy="0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75488" y="438912"/>
            <a:ext cx="0" cy="329184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84280" y="6382512"/>
            <a:ext cx="338328" cy="0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722608" y="6053328"/>
            <a:ext cx="0" cy="329184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6565392"/>
            <a:ext cx="5029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A09D9E"/>
                </a:solidFill>
                <a:latin typeface="Aptos"/>
              </a:rPr>
              <a:t>HACKWELL 2.0  •  SARANATHAN COLLEGE OF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A09D9E"/>
                </a:solidFill>
                <a:latin typeface="Aptos"/>
              </a:rPr>
              <a:t>04 / 07</a:t>
            </a:r>
          </a:p>
        </p:txBody>
      </p:sp>
      <p:pic>
        <p:nvPicPr>
          <p:cNvPr id="8" name="Picture 7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182880"/>
            <a:ext cx="1007872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75488"/>
            <a:ext cx="2286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E182B"/>
                </a:solidFill>
                <a:latin typeface="Aptos"/>
              </a:rPr>
              <a:t>SECTION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932688"/>
            <a:ext cx="1051560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5F5F2"/>
                </a:solidFill>
                <a:latin typeface="Aptos Display"/>
              </a:rPr>
              <a:t>Technology 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572768"/>
            <a:ext cx="98755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A09D9E"/>
                </a:solidFill>
                <a:latin typeface="Aptos"/>
              </a:rPr>
              <a:t>A website for agent-led fraud ring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03120"/>
            <a:ext cx="4800600" cy="3703320"/>
          </a:xfrm>
          <a:prstGeom prst="roundRect">
            <a:avLst>
              <a:gd name="adj" fmla="val 8000"/>
            </a:avLst>
          </a:prstGeom>
          <a:solidFill>
            <a:srgbClr val="110E10"/>
          </a:solidFill>
          <a:ln w="12700">
            <a:solidFill>
              <a:srgbClr val="302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395728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E182B"/>
                </a:solidFill>
                <a:latin typeface="Aptos"/>
              </a:rPr>
              <a:t>END-TO-END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2907792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110E10"/>
          </a:solidFill>
          <a:ln w="1270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2980944"/>
            <a:ext cx="172821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F5F2"/>
                </a:solidFill>
                <a:latin typeface="Aptos"/>
              </a:rPr>
              <a:t>Ingest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2980944"/>
            <a:ext cx="3200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E182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547872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1B1114"/>
          </a:solidFill>
          <a:ln w="1270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3621024"/>
            <a:ext cx="172821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F5F2"/>
                </a:solidFill>
                <a:latin typeface="Aptos"/>
              </a:rPr>
              <a:t>Link entities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4096" y="3621024"/>
            <a:ext cx="3200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E182B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187952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110E10"/>
          </a:solidFill>
          <a:ln w="1270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4712" y="4261104"/>
            <a:ext cx="172821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F5F2"/>
                </a:solidFill>
                <a:latin typeface="Aptos"/>
              </a:rPr>
              <a:t>Score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4096" y="4261104"/>
            <a:ext cx="3200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E182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4828031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1B1114"/>
          </a:solidFill>
          <a:ln w="1270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4901183"/>
            <a:ext cx="172821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F5F2"/>
                </a:solidFill>
                <a:latin typeface="Aptos"/>
              </a:rPr>
              <a:t>Alert analyst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440680"/>
            <a:ext cx="40690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A09D9E"/>
                </a:solidFill>
                <a:latin typeface="Aptos"/>
              </a:rPr>
              <a:t>Agent workflows combine data analysis, graph links and explainable alerts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2103120"/>
            <a:ext cx="5623560" cy="3703320"/>
          </a:xfrm>
          <a:prstGeom prst="roundRect">
            <a:avLst>
              <a:gd name="adj" fmla="val 8000"/>
            </a:avLst>
          </a:prstGeom>
          <a:solidFill>
            <a:srgbClr val="110E10"/>
          </a:solidFill>
          <a:ln w="12700">
            <a:solidFill>
              <a:srgbClr val="302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2395728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E182B"/>
                </a:solidFill>
                <a:latin typeface="Aptos"/>
              </a:rPr>
              <a:t>TECH STACK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4768" y="2907792"/>
            <a:ext cx="4572000" cy="438912"/>
          </a:xfrm>
          <a:prstGeom prst="roundRect">
            <a:avLst>
              <a:gd name="adj" fmla="val 8000"/>
            </a:avLst>
          </a:prstGeom>
          <a:solidFill>
            <a:srgbClr val="9B0D1B"/>
          </a:solidFill>
          <a:ln w="1270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026664"/>
            <a:ext cx="43342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5F2"/>
                </a:solidFill>
                <a:latin typeface="Aptos"/>
              </a:rPr>
              <a:t>WEB DASHBOARD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3575304"/>
            <a:ext cx="4572000" cy="438912"/>
          </a:xfrm>
          <a:prstGeom prst="roundRect">
            <a:avLst>
              <a:gd name="adj" fmla="val 8000"/>
            </a:avLst>
          </a:prstGeom>
          <a:solidFill>
            <a:srgbClr val="1B1114"/>
          </a:solidFill>
          <a:ln w="1270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694176"/>
            <a:ext cx="43342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5F2"/>
                </a:solidFill>
                <a:latin typeface="Aptos"/>
              </a:rPr>
              <a:t>AGENT WORKFLOW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4242816"/>
            <a:ext cx="4572000" cy="438912"/>
          </a:xfrm>
          <a:prstGeom prst="roundRect">
            <a:avLst>
              <a:gd name="adj" fmla="val 8000"/>
            </a:avLst>
          </a:prstGeom>
          <a:solidFill>
            <a:srgbClr val="9B0D1B"/>
          </a:solidFill>
          <a:ln w="1270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361688"/>
            <a:ext cx="43342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5F2"/>
                </a:solidFill>
                <a:latin typeface="Aptos"/>
              </a:rPr>
              <a:t>DATA STORE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4910328"/>
            <a:ext cx="4572000" cy="438912"/>
          </a:xfrm>
          <a:prstGeom prst="roundRect">
            <a:avLst>
              <a:gd name="adj" fmla="val 8000"/>
            </a:avLst>
          </a:prstGeom>
          <a:solidFill>
            <a:srgbClr val="1B1114"/>
          </a:solidFill>
          <a:ln w="1270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5029200"/>
            <a:ext cx="43342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5F2"/>
                </a:solidFill>
                <a:latin typeface="Aptos"/>
              </a:rPr>
              <a:t>GRAPH + RISK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486400"/>
            <a:ext cx="45720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A09D9E"/>
                </a:solidFill>
                <a:latin typeface="Aptos"/>
              </a:rPr>
              <a:t>Start with sample data; validate results through analyst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75488" y="438912"/>
            <a:ext cx="329184" cy="0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75488" y="438912"/>
            <a:ext cx="0" cy="329184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84280" y="6382512"/>
            <a:ext cx="338328" cy="0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722608" y="6053328"/>
            <a:ext cx="0" cy="329184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6565392"/>
            <a:ext cx="5029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A09D9E"/>
                </a:solidFill>
                <a:latin typeface="Aptos"/>
              </a:rPr>
              <a:t>HACKWELL 2.0  •  SARANATHAN COLLEGE OF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A09D9E"/>
                </a:solidFill>
                <a:latin typeface="Aptos"/>
              </a:rPr>
              <a:t>05 / 07</a:t>
            </a:r>
          </a:p>
        </p:txBody>
      </p:sp>
      <p:pic>
        <p:nvPicPr>
          <p:cNvPr id="8" name="Picture 7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182880"/>
            <a:ext cx="1007872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75488"/>
            <a:ext cx="2286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E182B"/>
                </a:solidFill>
                <a:latin typeface="Aptos"/>
              </a:rPr>
              <a:t>SECTION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932688"/>
            <a:ext cx="1051560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5F5F2"/>
                </a:solidFill>
                <a:latin typeface="Aptos Display"/>
              </a:rPr>
              <a:t>Detection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572768"/>
            <a:ext cx="98755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A09D9E"/>
                </a:solidFill>
                <a:latin typeface="Aptos"/>
              </a:rPr>
              <a:t>Agents turn connected data into investigation-ready 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03120"/>
            <a:ext cx="6995160" cy="3703320"/>
          </a:xfrm>
          <a:prstGeom prst="roundRect">
            <a:avLst>
              <a:gd name="adj" fmla="val 8000"/>
            </a:avLst>
          </a:prstGeom>
          <a:solidFill>
            <a:srgbClr val="110E10"/>
          </a:solidFill>
          <a:ln w="12700">
            <a:solidFill>
              <a:srgbClr val="302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395728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E182B"/>
                </a:solidFill>
                <a:latin typeface="Aptos"/>
              </a:rPr>
              <a:t>AGENT PIPELINE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45920" y="3794760"/>
            <a:ext cx="667512" cy="0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234440" y="3456432"/>
            <a:ext cx="658368" cy="658368"/>
          </a:xfrm>
          <a:prstGeom prst="ellipse">
            <a:avLst/>
          </a:prstGeom>
          <a:solidFill>
            <a:srgbClr val="1B1114"/>
          </a:solidFill>
          <a:ln w="1524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639312"/>
            <a:ext cx="65836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5F2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279392"/>
            <a:ext cx="118872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A09D9E"/>
                </a:solidFill>
                <a:latin typeface="Aptos"/>
              </a:rPr>
              <a:t>DATA INPUT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80360" y="3794760"/>
            <a:ext cx="667512" cy="0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468880" y="3456432"/>
            <a:ext cx="658368" cy="658368"/>
          </a:xfrm>
          <a:prstGeom prst="ellipse">
            <a:avLst/>
          </a:prstGeom>
          <a:solidFill>
            <a:srgbClr val="1B1114"/>
          </a:solidFill>
          <a:ln w="1524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3639312"/>
            <a:ext cx="65836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5F2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2848" y="4279392"/>
            <a:ext cx="118872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A09D9E"/>
                </a:solidFill>
                <a:latin typeface="Aptos"/>
              </a:rPr>
              <a:t>ANALYSIS AGENT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14800" y="3794760"/>
            <a:ext cx="667512" cy="0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703320" y="3456432"/>
            <a:ext cx="658368" cy="658368"/>
          </a:xfrm>
          <a:prstGeom prst="ellipse">
            <a:avLst/>
          </a:prstGeom>
          <a:solidFill>
            <a:srgbClr val="EE182B"/>
          </a:solidFill>
          <a:ln w="1524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3639312"/>
            <a:ext cx="65836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5F2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7288" y="4279392"/>
            <a:ext cx="118872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5F5F2"/>
                </a:solidFill>
                <a:latin typeface="Aptos"/>
              </a:rPr>
              <a:t>ENTITY LINKING AGENT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49240" y="3794760"/>
            <a:ext cx="667512" cy="0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937760" y="3456432"/>
            <a:ext cx="658368" cy="658368"/>
          </a:xfrm>
          <a:prstGeom prst="ellipse">
            <a:avLst/>
          </a:prstGeom>
          <a:solidFill>
            <a:srgbClr val="EE182B"/>
          </a:solidFill>
          <a:ln w="1524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3639312"/>
            <a:ext cx="65836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5F2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4279392"/>
            <a:ext cx="118872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5F5F2"/>
                </a:solidFill>
                <a:latin typeface="Aptos"/>
              </a:rPr>
              <a:t>RISK SCORING AGENT</a:t>
            </a:r>
          </a:p>
        </p:txBody>
      </p:sp>
      <p:sp>
        <p:nvSpPr>
          <p:cNvPr id="30" name="Oval 29"/>
          <p:cNvSpPr/>
          <p:nvPr/>
        </p:nvSpPr>
        <p:spPr>
          <a:xfrm>
            <a:off x="6172200" y="3456432"/>
            <a:ext cx="658368" cy="658368"/>
          </a:xfrm>
          <a:prstGeom prst="ellipse">
            <a:avLst/>
          </a:prstGeom>
          <a:solidFill>
            <a:srgbClr val="1B1114"/>
          </a:solidFill>
          <a:ln w="1524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3639312"/>
            <a:ext cx="65836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5F2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16168" y="4279392"/>
            <a:ext cx="118872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A09D9E"/>
                </a:solidFill>
                <a:latin typeface="Aptos"/>
              </a:rPr>
              <a:t>ALERT + ANALYST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2103120"/>
            <a:ext cx="3429000" cy="3703320"/>
          </a:xfrm>
          <a:prstGeom prst="roundRect">
            <a:avLst>
              <a:gd name="adj" fmla="val 8000"/>
            </a:avLst>
          </a:prstGeom>
          <a:solidFill>
            <a:srgbClr val="1B1114"/>
          </a:solidFill>
          <a:ln w="1270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2395728"/>
            <a:ext cx="2011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E182B"/>
                </a:solidFill>
                <a:latin typeface="Aptos"/>
              </a:rPr>
              <a:t>KEY PRINCIPLES</a:t>
            </a:r>
          </a:p>
        </p:txBody>
      </p:sp>
      <p:sp>
        <p:nvSpPr>
          <p:cNvPr id="35" name="Diamond 34"/>
          <p:cNvSpPr/>
          <p:nvPr/>
        </p:nvSpPr>
        <p:spPr>
          <a:xfrm>
            <a:off x="8302752" y="2971800"/>
            <a:ext cx="109728" cy="109728"/>
          </a:xfrm>
          <a:prstGeom prst="diamond">
            <a:avLst/>
          </a:prstGeom>
          <a:solidFill>
            <a:srgbClr val="EE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2" y="2880360"/>
            <a:ext cx="251460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F5F5F2"/>
                </a:solidFill>
                <a:latin typeface="Aptos"/>
              </a:rPr>
              <a:t>Use multiple fraud signals together</a:t>
            </a:r>
          </a:p>
        </p:txBody>
      </p:sp>
      <p:sp>
        <p:nvSpPr>
          <p:cNvPr id="37" name="Diamond 36"/>
          <p:cNvSpPr/>
          <p:nvPr/>
        </p:nvSpPr>
        <p:spPr>
          <a:xfrm>
            <a:off x="8302752" y="3767327"/>
            <a:ext cx="109728" cy="109728"/>
          </a:xfrm>
          <a:prstGeom prst="diamond">
            <a:avLst/>
          </a:prstGeom>
          <a:solidFill>
            <a:srgbClr val="EE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31352" y="3675887"/>
            <a:ext cx="251460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F5F5F2"/>
                </a:solidFill>
                <a:latin typeface="Aptos"/>
              </a:rPr>
              <a:t>Map relationships between entities</a:t>
            </a:r>
          </a:p>
        </p:txBody>
      </p:sp>
      <p:sp>
        <p:nvSpPr>
          <p:cNvPr id="39" name="Diamond 38"/>
          <p:cNvSpPr/>
          <p:nvPr/>
        </p:nvSpPr>
        <p:spPr>
          <a:xfrm>
            <a:off x="8302752" y="4562855"/>
            <a:ext cx="109728" cy="109728"/>
          </a:xfrm>
          <a:prstGeom prst="diamond">
            <a:avLst/>
          </a:prstGeom>
          <a:solidFill>
            <a:srgbClr val="EE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31352" y="4471416"/>
            <a:ext cx="251460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F5F5F2"/>
                </a:solidFill>
                <a:latin typeface="Aptos"/>
              </a:rPr>
              <a:t>Keep final action under human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75488" y="438912"/>
            <a:ext cx="329184" cy="0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75488" y="438912"/>
            <a:ext cx="0" cy="329184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84280" y="6382512"/>
            <a:ext cx="338328" cy="0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722608" y="6053328"/>
            <a:ext cx="0" cy="329184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6565392"/>
            <a:ext cx="5029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A09D9E"/>
                </a:solidFill>
                <a:latin typeface="Aptos"/>
              </a:rPr>
              <a:t>HACKWELL 2.0  •  SARANATHAN COLLEGE OF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A09D9E"/>
                </a:solidFill>
                <a:latin typeface="Aptos"/>
              </a:rPr>
              <a:t>06 / 07</a:t>
            </a:r>
          </a:p>
        </p:txBody>
      </p:sp>
      <p:pic>
        <p:nvPicPr>
          <p:cNvPr id="8" name="Picture 7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182880"/>
            <a:ext cx="1007872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75488"/>
            <a:ext cx="2286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E182B"/>
                </a:solidFill>
                <a:latin typeface="Aptos"/>
              </a:rPr>
              <a:t>SECTION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932688"/>
            <a:ext cx="1051560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5F5F2"/>
                </a:solidFill>
                <a:latin typeface="Aptos Display"/>
              </a:rPr>
              <a:t>Impact &amp; viability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572768"/>
            <a:ext cx="98755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A09D9E"/>
                </a:solidFill>
                <a:latin typeface="Aptos"/>
              </a:rPr>
              <a:t>Find high-risk networks before they grow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03120"/>
            <a:ext cx="10652760" cy="1261872"/>
          </a:xfrm>
          <a:prstGeom prst="roundRect">
            <a:avLst>
              <a:gd name="adj" fmla="val 8000"/>
            </a:avLst>
          </a:prstGeom>
          <a:solidFill>
            <a:srgbClr val="110E10"/>
          </a:solidFill>
          <a:ln w="12700">
            <a:solidFill>
              <a:srgbClr val="302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395728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E182B"/>
                </a:solidFill>
                <a:latin typeface="Aptos"/>
              </a:rPr>
              <a:t>EXPECTED IMPACT</a:t>
            </a:r>
          </a:p>
        </p:txBody>
      </p:sp>
      <p:sp>
        <p:nvSpPr>
          <p:cNvPr id="14" name="Diamond 13"/>
          <p:cNvSpPr/>
          <p:nvPr/>
        </p:nvSpPr>
        <p:spPr>
          <a:xfrm>
            <a:off x="1051560" y="2852928"/>
            <a:ext cx="109728" cy="109728"/>
          </a:xfrm>
          <a:prstGeom prst="diamond">
            <a:avLst/>
          </a:prstGeom>
          <a:solidFill>
            <a:srgbClr val="EE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761488"/>
            <a:ext cx="269748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5F5F2"/>
                </a:solidFill>
                <a:latin typeface="Aptos"/>
              </a:rPr>
              <a:t>Fraud analysts and financial platforms</a:t>
            </a:r>
          </a:p>
        </p:txBody>
      </p:sp>
      <p:sp>
        <p:nvSpPr>
          <p:cNvPr id="16" name="Diamond 15"/>
          <p:cNvSpPr/>
          <p:nvPr/>
        </p:nvSpPr>
        <p:spPr>
          <a:xfrm>
            <a:off x="3794760" y="2852928"/>
            <a:ext cx="109728" cy="109728"/>
          </a:xfrm>
          <a:prstGeom prst="diamond">
            <a:avLst/>
          </a:prstGeom>
          <a:solidFill>
            <a:srgbClr val="EE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2761488"/>
            <a:ext cx="315468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5F5F2"/>
                </a:solidFill>
                <a:latin typeface="Aptos"/>
              </a:rPr>
              <a:t>Earlier detection of suspicious connected activity</a:t>
            </a:r>
          </a:p>
        </p:txBody>
      </p:sp>
      <p:sp>
        <p:nvSpPr>
          <p:cNvPr id="18" name="Diamond 17"/>
          <p:cNvSpPr/>
          <p:nvPr/>
        </p:nvSpPr>
        <p:spPr>
          <a:xfrm>
            <a:off x="6903720" y="2852928"/>
            <a:ext cx="109728" cy="109728"/>
          </a:xfrm>
          <a:prstGeom prst="diamond">
            <a:avLst/>
          </a:prstGeom>
          <a:solidFill>
            <a:srgbClr val="EE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2761488"/>
            <a:ext cx="324612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5F5F2"/>
                </a:solidFill>
                <a:latin typeface="Aptos"/>
              </a:rPr>
              <a:t>Prioritize cases by network risk and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03320"/>
            <a:ext cx="3246120" cy="1965960"/>
          </a:xfrm>
          <a:prstGeom prst="roundRect">
            <a:avLst>
              <a:gd name="adj" fmla="val 8000"/>
            </a:avLst>
          </a:prstGeom>
          <a:solidFill>
            <a:srgbClr val="1B1114"/>
          </a:solidFill>
          <a:ln w="1270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05072"/>
            <a:ext cx="26517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F5F2"/>
                </a:solidFill>
                <a:latin typeface="Aptos"/>
              </a:rPr>
              <a:t>USE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62272"/>
            <a:ext cx="274320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A09D9E"/>
                </a:solidFill>
                <a:latin typeface="Aptos"/>
              </a:rPr>
              <a:t>An analyst investigates linked accounts after a high-risk alert.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1688" y="3703320"/>
            <a:ext cx="3246120" cy="1965960"/>
          </a:xfrm>
          <a:prstGeom prst="roundRect">
            <a:avLst>
              <a:gd name="adj" fmla="val 8000"/>
            </a:avLst>
          </a:prstGeom>
          <a:solidFill>
            <a:srgbClr val="1B1114"/>
          </a:solidFill>
          <a:ln w="1270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4005072"/>
            <a:ext cx="26517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F5F2"/>
                </a:solidFill>
                <a:latin typeface="Aptos"/>
              </a:rPr>
              <a:t>SCALABILITY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462272"/>
            <a:ext cx="274320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A09D9E"/>
                </a:solidFill>
                <a:latin typeface="Aptos"/>
              </a:rPr>
              <a:t>Add data sources and specialist agents over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46136" y="3703320"/>
            <a:ext cx="3246120" cy="1965960"/>
          </a:xfrm>
          <a:prstGeom prst="roundRect">
            <a:avLst>
              <a:gd name="adj" fmla="val 8000"/>
            </a:avLst>
          </a:prstGeom>
          <a:solidFill>
            <a:srgbClr val="1B1114"/>
          </a:solidFill>
          <a:ln w="12700">
            <a:solidFill>
              <a:srgbClr val="EE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4005072"/>
            <a:ext cx="26517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F5F2"/>
                </a:solidFill>
                <a:latin typeface="Aptos"/>
              </a:rPr>
              <a:t>FEASIBILITY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4462272"/>
            <a:ext cx="274320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A09D9E"/>
                </a:solidFill>
                <a:latin typeface="Aptos"/>
              </a:rPr>
              <a:t>A web dashboard can begin with sample transaction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75488" y="438912"/>
            <a:ext cx="329184" cy="0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75488" y="438912"/>
            <a:ext cx="0" cy="329184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84280" y="6382512"/>
            <a:ext cx="338328" cy="0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722608" y="6053328"/>
            <a:ext cx="0" cy="329184"/>
          </a:xfrm>
          <a:prstGeom prst="line">
            <a:avLst/>
          </a:prstGeom>
          <a:ln w="25400">
            <a:solidFill>
              <a:srgbClr val="EE18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6565392"/>
            <a:ext cx="5029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A09D9E"/>
                </a:solidFill>
                <a:latin typeface="Aptos"/>
              </a:rPr>
              <a:t>HACKWELL 2.0  •  SARANATHAN COLLEGE OF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A09D9E"/>
                </a:solidFill>
                <a:latin typeface="Aptos"/>
              </a:rPr>
              <a:t>07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15568"/>
            <a:ext cx="1074420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F5F5F2"/>
                </a:solidFill>
                <a:latin typeface="Aptos Display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19072"/>
            <a:ext cx="107442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E182B"/>
                </a:solidFill>
                <a:latin typeface="Aptos Display"/>
              </a:rPr>
              <a:t>GRAPH GRAUDIANS</a:t>
            </a:r>
          </a:p>
        </p:txBody>
      </p:sp>
      <p:pic>
        <p:nvPicPr>
          <p:cNvPr id="10" name="Picture 9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423160"/>
            <a:ext cx="4307840" cy="2423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5074920"/>
            <a:ext cx="85496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A09D9E"/>
                </a:solidFill>
                <a:latin typeface="Aptos"/>
              </a:rPr>
              <a:t>AGENTIC AI  •  FRAUD RING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532120"/>
            <a:ext cx="30632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E182B"/>
                </a:solidFill>
                <a:latin typeface="Aptos"/>
              </a:rPr>
              <a:t>HACKWELL 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